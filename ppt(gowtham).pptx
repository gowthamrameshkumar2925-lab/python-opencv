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yrillic Bodoni" panose="020B0604020202020204" charset="0"/>
      <p:regular r:id="rId19"/>
    </p:embeddedFont>
    <p:embeddedFont>
      <p:font typeface="Montserrat" panose="020B0604020202020204" charset="0"/>
      <p:regular r:id="rId20"/>
    </p:embeddedFont>
    <p:embeddedFont>
      <p:font typeface="Museo Moderno" panose="020B0604020202020204" charset="0"/>
      <p:regular r:id="rId21"/>
    </p:embeddedFont>
    <p:embeddedFont>
      <p:font typeface="Montserrat Bold" panose="020B0604020202020204" charset="0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anva Sans Bold" panose="020B0604020202020204" charset="0"/>
      <p:regular r:id="rId27"/>
    </p:embeddedFont>
    <p:embeddedFont>
      <p:font typeface="Bauer Bodoni Condensed Bold" panose="020B0604020202020204" charset="0"/>
      <p:regular r:id="rId28"/>
    </p:embeddedFont>
    <p:embeddedFont>
      <p:font typeface="Cyrillic Bodoni Bold" panose="020B0604020202020204" charset="0"/>
      <p:regular r:id="rId29"/>
    </p:embeddedFont>
    <p:embeddedFont>
      <p:font typeface="Canva Sans" panose="020B0604020202020204" charset="0"/>
      <p:regular r:id="rId30"/>
    </p:embeddedFont>
    <p:embeddedFont>
      <p:font typeface="Museo Moderno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54" y="32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7.png"/><Relationship Id="rId5" Type="http://schemas.openxmlformats.org/officeDocument/2006/relationships/image" Target="../media/image5.png"/><Relationship Id="rId10" Type="http://schemas.openxmlformats.org/officeDocument/2006/relationships/image" Target="../media/image5.svg"/><Relationship Id="rId4" Type="http://schemas.openxmlformats.org/officeDocument/2006/relationships/image" Target="../media/image3.svg"/><Relationship Id="rId9" Type="http://schemas.openxmlformats.org/officeDocument/2006/relationships/image" Target="../media/image3.png"/><Relationship Id="rId1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6699" y="-651910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028700" y="1699079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19" y="0"/>
                </a:lnTo>
                <a:lnTo>
                  <a:pt x="3657219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459390" y="4173112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045686" y="8823960"/>
            <a:ext cx="1406261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84590" y="8823960"/>
            <a:ext cx="1406261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6800" y="2379983"/>
            <a:ext cx="14556181" cy="1681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0"/>
              </a:lnSpc>
            </a:pPr>
            <a:r>
              <a:rPr lang="en-US" sz="7285" b="1" dirty="0">
                <a:solidFill>
                  <a:srgbClr val="FFFFFF"/>
                </a:solidFill>
                <a:latin typeface="Bauer Bodoni Condensed Bold"/>
                <a:ea typeface="Bauer Bodoni Condensed Bold"/>
                <a:cs typeface="Bauer Bodoni Condensed Bold"/>
                <a:sym typeface="Bauer Bodoni Condensed Bold"/>
              </a:rPr>
              <a:t>Image </a:t>
            </a:r>
            <a:r>
              <a:rPr lang="en-US" sz="7285" b="1" dirty="0" err="1">
                <a:solidFill>
                  <a:srgbClr val="FFFFFF"/>
                </a:solidFill>
                <a:latin typeface="Bauer Bodoni Condensed Bold"/>
                <a:ea typeface="Bauer Bodoni Condensed Bold"/>
                <a:cs typeface="Bauer Bodoni Condensed Bold"/>
                <a:sym typeface="Bauer Bodoni Condensed Bold"/>
              </a:rPr>
              <a:t>Proccssing</a:t>
            </a:r>
            <a:r>
              <a:rPr lang="en-US" sz="7285" b="1" dirty="0">
                <a:solidFill>
                  <a:srgbClr val="FFFFFF"/>
                </a:solidFill>
                <a:latin typeface="Bauer Bodoni Condensed Bold"/>
                <a:ea typeface="Bauer Bodoni Condensed Bold"/>
                <a:cs typeface="Bauer Bodoni Condensed Bold"/>
                <a:sym typeface="Bauer Bodoni Condensed Bold"/>
              </a:rPr>
              <a:t> and Computer Vision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90695" y="6167809"/>
            <a:ext cx="8556508" cy="3153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06"/>
              </a:lnSpc>
            </a:pP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Dr. R.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Vengateshkumar</a:t>
            </a:r>
            <a:endParaRPr lang="en-US" sz="4362" dirty="0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  <a:p>
            <a:pPr algn="just">
              <a:lnSpc>
                <a:spcPts val="6106"/>
              </a:lnSpc>
            </a:pP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Mr.M</a:t>
            </a: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.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Panneerselvam</a:t>
            </a:r>
            <a:endParaRPr lang="en-US" sz="4362" dirty="0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  <a:p>
            <a:pPr algn="just">
              <a:lnSpc>
                <a:spcPts val="6106"/>
              </a:lnSpc>
            </a:pP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R.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Gowtham</a:t>
            </a: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(I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B.Sc</a:t>
            </a: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(CS)’C’)</a:t>
            </a:r>
          </a:p>
          <a:p>
            <a:pPr algn="just">
              <a:lnSpc>
                <a:spcPts val="6106"/>
              </a:lnSpc>
            </a:pP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T.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Shanmuga</a:t>
            </a: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Priyan</a:t>
            </a: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(I </a:t>
            </a:r>
            <a:r>
              <a:rPr lang="en-US" sz="4362" dirty="0" err="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B.Sc</a:t>
            </a:r>
            <a:r>
              <a:rPr lang="en-US" sz="4362" dirty="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(CS)’C’)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28519" y="5283203"/>
            <a:ext cx="1410543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4500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Presended</a:t>
            </a:r>
            <a:r>
              <a:rPr lang="en-US" sz="4500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by: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33560" y="1895467"/>
            <a:ext cx="4773093" cy="1091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0"/>
              </a:lnSpc>
            </a:pPr>
            <a:r>
              <a:rPr lang="en-US" sz="7842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Abstract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3435" y="3760735"/>
            <a:ext cx="13922862" cy="6055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58109" lvl="2" indent="-552703" algn="just">
              <a:lnSpc>
                <a:spcPts val="5372"/>
              </a:lnSpc>
              <a:buFont typeface="Arial"/>
              <a:buChar char="⚬"/>
            </a:pPr>
            <a:r>
              <a:rPr lang="en-US" sz="3839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Image processing is the technique of using computers to analyze, enhance, and modify digital images by improving quality, removing noise, detecting edges, and adjusting brightness or color. </a:t>
            </a:r>
          </a:p>
          <a:p>
            <a:pPr marL="1658109" lvl="2" indent="-552703" algn="just">
              <a:lnSpc>
                <a:spcPts val="5372"/>
              </a:lnSpc>
              <a:buFont typeface="Arial"/>
              <a:buChar char="⚬"/>
            </a:pPr>
            <a:r>
              <a:rPr lang="en-US" sz="3839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Tools like OpenCV help build real-time vision systems for various fields such as healthcare, security, and automation.</a:t>
            </a:r>
          </a:p>
          <a:p>
            <a:pPr marL="1658109" lvl="2" indent="-552703" algn="just">
              <a:lnSpc>
                <a:spcPts val="5372"/>
              </a:lnSpc>
              <a:buFont typeface="Arial"/>
              <a:buChar char="⚬"/>
            </a:pPr>
            <a:r>
              <a:rPr lang="en-US" sz="3839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keywords: opencv, Augmented Reality, jawline, Generative Adversarial Networks (GANs)</a:t>
            </a:r>
          </a:p>
          <a:p>
            <a:pPr marL="1658112" lvl="2" indent="-552704" algn="just">
              <a:lnSpc>
                <a:spcPts val="5376"/>
              </a:lnSpc>
              <a:buFont typeface="Arial"/>
              <a:buChar char="⚬"/>
            </a:pPr>
            <a:endParaRPr lang="en-US" sz="3839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3350983" y="1699079"/>
            <a:ext cx="5696569" cy="5696569"/>
          </a:xfrm>
          <a:custGeom>
            <a:avLst/>
            <a:gdLst/>
            <a:ahLst/>
            <a:cxnLst/>
            <a:rect l="l" t="t" r="r" b="b"/>
            <a:pathLst>
              <a:path w="5696569" h="5696569">
                <a:moveTo>
                  <a:pt x="5696569" y="0"/>
                </a:moveTo>
                <a:lnTo>
                  <a:pt x="0" y="0"/>
                </a:lnTo>
                <a:lnTo>
                  <a:pt x="0" y="5696569"/>
                </a:lnTo>
                <a:lnTo>
                  <a:pt x="5696569" y="5696569"/>
                </a:lnTo>
                <a:lnTo>
                  <a:pt x="5696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646690" y="1203522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50" y="0"/>
                </a:moveTo>
                <a:lnTo>
                  <a:pt x="0" y="0"/>
                </a:lnTo>
                <a:lnTo>
                  <a:pt x="0" y="2380250"/>
                </a:lnTo>
                <a:lnTo>
                  <a:pt x="2380250" y="2380250"/>
                </a:lnTo>
                <a:lnTo>
                  <a:pt x="2380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30781" y="1699079"/>
            <a:ext cx="3107665" cy="3107665"/>
          </a:xfrm>
          <a:custGeom>
            <a:avLst/>
            <a:gdLst/>
            <a:ahLst/>
            <a:cxnLst/>
            <a:rect l="l" t="t" r="r" b="b"/>
            <a:pathLst>
              <a:path w="3107665" h="3107665">
                <a:moveTo>
                  <a:pt x="0" y="0"/>
                </a:moveTo>
                <a:lnTo>
                  <a:pt x="3107665" y="0"/>
                </a:lnTo>
                <a:lnTo>
                  <a:pt x="3107665" y="3107665"/>
                </a:lnTo>
                <a:lnTo>
                  <a:pt x="0" y="3107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086146" y="3043285"/>
            <a:ext cx="6853209" cy="5022723"/>
            <a:chOff x="0" y="0"/>
            <a:chExt cx="9137612" cy="6696964"/>
          </a:xfrm>
        </p:grpSpPr>
        <p:sp>
          <p:nvSpPr>
            <p:cNvPr id="9" name="Freeform 9"/>
            <p:cNvSpPr/>
            <p:nvPr/>
          </p:nvSpPr>
          <p:spPr>
            <a:xfrm>
              <a:off x="95250" y="95250"/>
              <a:ext cx="8973185" cy="6532626"/>
            </a:xfrm>
            <a:custGeom>
              <a:avLst/>
              <a:gdLst/>
              <a:ahLst/>
              <a:cxnLst/>
              <a:rect l="l" t="t" r="r" b="b"/>
              <a:pathLst>
                <a:path w="8973185" h="6532626">
                  <a:moveTo>
                    <a:pt x="486283" y="0"/>
                  </a:moveTo>
                  <a:lnTo>
                    <a:pt x="8486902" y="0"/>
                  </a:lnTo>
                  <a:cubicBezTo>
                    <a:pt x="8756269" y="0"/>
                    <a:pt x="8973185" y="352933"/>
                    <a:pt x="8973185" y="786384"/>
                  </a:cubicBezTo>
                  <a:lnTo>
                    <a:pt x="8973185" y="3979672"/>
                  </a:lnTo>
                  <a:cubicBezTo>
                    <a:pt x="8973185" y="4204081"/>
                    <a:pt x="8913876" y="4419727"/>
                    <a:pt x="8808847" y="4567809"/>
                  </a:cubicBezTo>
                  <a:lnTo>
                    <a:pt x="7574915" y="6334379"/>
                  </a:lnTo>
                  <a:cubicBezTo>
                    <a:pt x="7486015" y="6462903"/>
                    <a:pt x="7371461" y="6532626"/>
                    <a:pt x="7251573" y="6532626"/>
                  </a:cubicBezTo>
                  <a:lnTo>
                    <a:pt x="3988816" y="6532626"/>
                  </a:lnTo>
                  <a:cubicBezTo>
                    <a:pt x="3719449" y="6532626"/>
                    <a:pt x="3502533" y="6179693"/>
                    <a:pt x="3502533" y="5746242"/>
                  </a:cubicBezTo>
                  <a:lnTo>
                    <a:pt x="3502533" y="5534914"/>
                  </a:lnTo>
                  <a:cubicBezTo>
                    <a:pt x="3502533" y="5099304"/>
                    <a:pt x="3284347" y="4748530"/>
                    <a:pt x="3016250" y="4748530"/>
                  </a:cubicBezTo>
                  <a:lnTo>
                    <a:pt x="486283" y="4748530"/>
                  </a:lnTo>
                  <a:cubicBezTo>
                    <a:pt x="218186" y="4748530"/>
                    <a:pt x="0" y="4395597"/>
                    <a:pt x="0" y="3962146"/>
                  </a:cubicBezTo>
                  <a:lnTo>
                    <a:pt x="0" y="786384"/>
                  </a:lnTo>
                  <a:cubicBezTo>
                    <a:pt x="0" y="352933"/>
                    <a:pt x="218186" y="0"/>
                    <a:pt x="486283" y="0"/>
                  </a:cubicBezTo>
                  <a:close/>
                </a:path>
              </a:pathLst>
            </a:custGeom>
            <a:blipFill>
              <a:blip r:embed="rId7"/>
              <a:stretch>
                <a:fillRect l="-1061" t="-55107" r="-770" b="-54707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862719" y="2181025"/>
            <a:ext cx="7254240" cy="1416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70"/>
              </a:lnSpc>
            </a:pPr>
            <a:r>
              <a:rPr lang="en-US" sz="11187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image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77327" y="3524621"/>
            <a:ext cx="7027059" cy="1282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93"/>
              </a:lnSpc>
            </a:pPr>
            <a:r>
              <a:rPr lang="en-US" sz="10181" dirty="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processing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77327" y="5403056"/>
            <a:ext cx="8181765" cy="2669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15"/>
              </a:lnSpc>
            </a:pPr>
            <a:r>
              <a:rPr lang="en-US" sz="365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Image processing is a method of using a computer to analyze, improve, or change an image.</a:t>
            </a:r>
          </a:p>
          <a:p>
            <a:pPr algn="just">
              <a:lnSpc>
                <a:spcPts val="5115"/>
              </a:lnSpc>
            </a:pPr>
            <a:endParaRPr lang="en-US" sz="3654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77327" y="8404908"/>
            <a:ext cx="7269861" cy="56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304" lvl="2" indent="-227768" algn="ctr">
              <a:lnSpc>
                <a:spcPts val="4184"/>
              </a:lnSpc>
              <a:buFont typeface="Arial"/>
              <a:buChar char="⚬"/>
            </a:pPr>
            <a:r>
              <a:rPr lang="en-US" sz="298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Mobile gallery editing, remini(app).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67802" y="7665672"/>
            <a:ext cx="2118398" cy="568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7192" y="2670477"/>
            <a:ext cx="7073408" cy="140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16"/>
              </a:lnSpc>
            </a:pPr>
            <a:r>
              <a:rPr lang="en-US" sz="11043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AI image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1496" y="4021722"/>
            <a:ext cx="7759208" cy="1477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40"/>
              </a:lnSpc>
            </a:pPr>
            <a:r>
              <a:rPr lang="en-US" sz="11626" dirty="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processing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45854" y="2962875"/>
            <a:ext cx="6075321" cy="461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3"/>
              </a:lnSpc>
            </a:pPr>
            <a:r>
              <a:rPr lang="en-US" sz="243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EXAMPLE: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45854" y="3443002"/>
            <a:ext cx="7164229" cy="217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798" lvl="2" indent="-228933" algn="just">
              <a:lnSpc>
                <a:spcPts val="4206"/>
              </a:lnSpc>
              <a:buFont typeface="Arial"/>
              <a:buChar char="⚬"/>
            </a:pPr>
            <a:r>
              <a:rPr lang="en-US" sz="30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Face unlock in mobile phones</a:t>
            </a:r>
          </a:p>
          <a:p>
            <a:pPr marL="686798" lvl="2" indent="-228933" algn="just">
              <a:lnSpc>
                <a:spcPts val="4206"/>
              </a:lnSpc>
              <a:buFont typeface="Arial"/>
              <a:buChar char="⚬"/>
            </a:pPr>
            <a:r>
              <a:rPr lang="en-US" sz="30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Instagram and Snapchat filters</a:t>
            </a:r>
          </a:p>
          <a:p>
            <a:pPr marL="686798" lvl="2" indent="-228933" algn="just">
              <a:lnSpc>
                <a:spcPts val="4206"/>
              </a:lnSpc>
              <a:buFont typeface="Arial"/>
              <a:buChar char="⚬"/>
            </a:pPr>
            <a:r>
              <a:rPr lang="en-US" sz="30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Google Photos search</a:t>
            </a:r>
          </a:p>
          <a:p>
            <a:pPr marL="686798" lvl="2" indent="-228933" algn="just">
              <a:lnSpc>
                <a:spcPts val="4206"/>
              </a:lnSpc>
              <a:buFont typeface="Arial"/>
              <a:buChar char="⚬"/>
            </a:pPr>
            <a:r>
              <a:rPr lang="en-US" sz="300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Medical scanning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31496" y="5849322"/>
            <a:ext cx="8886634" cy="2833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16"/>
              </a:lnSpc>
            </a:pPr>
            <a:r>
              <a:rPr lang="en-US" sz="394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AI image processing means using Artificial Intelligence to help computers understand, analyze, and improve images.</a:t>
            </a:r>
          </a:p>
          <a:p>
            <a:pPr algn="just">
              <a:lnSpc>
                <a:spcPts val="5516"/>
              </a:lnSpc>
            </a:pPr>
            <a:endParaRPr lang="en-US" sz="3940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-1028700" y="1699079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19" y="0"/>
                </a:lnTo>
                <a:lnTo>
                  <a:pt x="3657219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459390" y="4173112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049893" y="0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59632" y="3511067"/>
            <a:ext cx="6582766" cy="3620138"/>
          </a:xfrm>
          <a:custGeom>
            <a:avLst/>
            <a:gdLst/>
            <a:ahLst/>
            <a:cxnLst/>
            <a:rect l="l" t="t" r="r" b="b"/>
            <a:pathLst>
              <a:path w="6582766" h="3620138">
                <a:moveTo>
                  <a:pt x="0" y="0"/>
                </a:moveTo>
                <a:lnTo>
                  <a:pt x="6582765" y="0"/>
                </a:lnTo>
                <a:lnTo>
                  <a:pt x="6582765" y="3620139"/>
                </a:lnTo>
                <a:lnTo>
                  <a:pt x="0" y="36201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014033" y="3366364"/>
            <a:ext cx="6837302" cy="3874684"/>
          </a:xfrm>
          <a:custGeom>
            <a:avLst/>
            <a:gdLst/>
            <a:ahLst/>
            <a:cxnLst/>
            <a:rect l="l" t="t" r="r" b="b"/>
            <a:pathLst>
              <a:path w="6837302" h="3874684">
                <a:moveTo>
                  <a:pt x="0" y="0"/>
                </a:moveTo>
                <a:lnTo>
                  <a:pt x="6837302" y="0"/>
                </a:lnTo>
                <a:lnTo>
                  <a:pt x="6837302" y="3874684"/>
                </a:lnTo>
                <a:lnTo>
                  <a:pt x="0" y="38746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487197" y="3910555"/>
            <a:ext cx="5797944" cy="2667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High Accuracy</a:t>
            </a:r>
          </a:p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Faster Processing</a:t>
            </a:r>
          </a:p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Automation</a:t>
            </a:r>
          </a:p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Security &amp; Surveillance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15265746" y="1504159"/>
            <a:ext cx="2452249" cy="2452249"/>
          </a:xfrm>
          <a:custGeom>
            <a:avLst/>
            <a:gdLst/>
            <a:ahLst/>
            <a:cxnLst/>
            <a:rect l="l" t="t" r="r" b="b"/>
            <a:pathLst>
              <a:path w="2452249" h="2452249">
                <a:moveTo>
                  <a:pt x="2452249" y="0"/>
                </a:moveTo>
                <a:lnTo>
                  <a:pt x="0" y="0"/>
                </a:lnTo>
                <a:lnTo>
                  <a:pt x="0" y="2452250"/>
                </a:lnTo>
                <a:lnTo>
                  <a:pt x="2452249" y="2452250"/>
                </a:lnTo>
                <a:lnTo>
                  <a:pt x="2452249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957218" y="3161852"/>
            <a:ext cx="3173520" cy="826637"/>
          </a:xfrm>
          <a:custGeom>
            <a:avLst/>
            <a:gdLst/>
            <a:ahLst/>
            <a:cxnLst/>
            <a:rect l="l" t="t" r="r" b="b"/>
            <a:pathLst>
              <a:path w="3173520" h="826637">
                <a:moveTo>
                  <a:pt x="0" y="0"/>
                </a:moveTo>
                <a:lnTo>
                  <a:pt x="3173521" y="0"/>
                </a:lnTo>
                <a:lnTo>
                  <a:pt x="3173521" y="826637"/>
                </a:lnTo>
                <a:lnTo>
                  <a:pt x="0" y="8266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33400" y="6944716"/>
            <a:ext cx="2199199" cy="2199199"/>
          </a:xfrm>
          <a:custGeom>
            <a:avLst/>
            <a:gdLst/>
            <a:ahLst/>
            <a:cxnLst/>
            <a:rect l="l" t="t" r="r" b="b"/>
            <a:pathLst>
              <a:path w="2199199" h="2199199">
                <a:moveTo>
                  <a:pt x="0" y="0"/>
                </a:moveTo>
                <a:lnTo>
                  <a:pt x="2199199" y="0"/>
                </a:lnTo>
                <a:lnTo>
                  <a:pt x="2199199" y="2199198"/>
                </a:lnTo>
                <a:lnTo>
                  <a:pt x="0" y="21991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28455" y="3184969"/>
            <a:ext cx="2431056" cy="63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Advantages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60163" y="328708"/>
            <a:ext cx="13136318" cy="184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44"/>
              </a:lnSpc>
            </a:pPr>
            <a:r>
              <a:rPr lang="en-US" sz="9318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AI image processing</a:t>
            </a:r>
          </a:p>
        </p:txBody>
      </p:sp>
      <p:sp>
        <p:nvSpPr>
          <p:cNvPr id="15" name="Freeform 15"/>
          <p:cNvSpPr/>
          <p:nvPr/>
        </p:nvSpPr>
        <p:spPr>
          <a:xfrm>
            <a:off x="8862908" y="3383794"/>
            <a:ext cx="6837302" cy="3874684"/>
          </a:xfrm>
          <a:custGeom>
            <a:avLst/>
            <a:gdLst/>
            <a:ahLst/>
            <a:cxnLst/>
            <a:rect l="l" t="t" r="r" b="b"/>
            <a:pathLst>
              <a:path w="6837302" h="3874684">
                <a:moveTo>
                  <a:pt x="0" y="0"/>
                </a:moveTo>
                <a:lnTo>
                  <a:pt x="6837302" y="0"/>
                </a:lnTo>
                <a:lnTo>
                  <a:pt x="6837302" y="3874685"/>
                </a:lnTo>
                <a:lnTo>
                  <a:pt x="0" y="38746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025223" y="3497170"/>
            <a:ext cx="6582766" cy="3620138"/>
          </a:xfrm>
          <a:custGeom>
            <a:avLst/>
            <a:gdLst/>
            <a:ahLst/>
            <a:cxnLst/>
            <a:rect l="l" t="t" r="r" b="b"/>
            <a:pathLst>
              <a:path w="6582766" h="3620138">
                <a:moveTo>
                  <a:pt x="0" y="0"/>
                </a:moveTo>
                <a:lnTo>
                  <a:pt x="6582766" y="0"/>
                </a:lnTo>
                <a:lnTo>
                  <a:pt x="6582766" y="3620139"/>
                </a:lnTo>
                <a:lnTo>
                  <a:pt x="0" y="36201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875852" y="3900230"/>
            <a:ext cx="6496164" cy="3401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Privacy Issues</a:t>
            </a:r>
          </a:p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High Cost</a:t>
            </a:r>
          </a:p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System Failures</a:t>
            </a:r>
          </a:p>
          <a:p>
            <a:pPr marL="854598" lvl="2" indent="-284866" algn="ctr">
              <a:lnSpc>
                <a:spcPts val="5234"/>
              </a:lnSpc>
              <a:buFont typeface="Arial"/>
              <a:buChar char="⚬"/>
            </a:pPr>
            <a:r>
              <a:rPr lang="en-US" sz="373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Ethical Issues</a:t>
            </a:r>
          </a:p>
          <a:p>
            <a:pPr marL="854598" lvl="2" indent="-284866" algn="ctr">
              <a:lnSpc>
                <a:spcPts val="5234"/>
              </a:lnSpc>
            </a:pPr>
            <a:endParaRPr lang="en-US" sz="3738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0897457" y="3151022"/>
            <a:ext cx="3491932" cy="826637"/>
          </a:xfrm>
          <a:custGeom>
            <a:avLst/>
            <a:gdLst/>
            <a:ahLst/>
            <a:cxnLst/>
            <a:rect l="l" t="t" r="r" b="b"/>
            <a:pathLst>
              <a:path w="3491932" h="826637">
                <a:moveTo>
                  <a:pt x="0" y="0"/>
                </a:moveTo>
                <a:lnTo>
                  <a:pt x="3491932" y="0"/>
                </a:lnTo>
                <a:lnTo>
                  <a:pt x="3491932" y="826637"/>
                </a:lnTo>
                <a:lnTo>
                  <a:pt x="0" y="82663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801007" y="3246168"/>
            <a:ext cx="3696081" cy="656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Dis-Advantages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-103603" y="1257300"/>
            <a:ext cx="11389243" cy="1299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3"/>
              </a:lnSpc>
            </a:pPr>
            <a:r>
              <a:rPr lang="en-US" sz="10031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Types of image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56784" y="4631750"/>
            <a:ext cx="6165523" cy="416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1686" lvl="2" indent="-353895" algn="ctr">
              <a:lnSpc>
                <a:spcPts val="6502"/>
              </a:lnSpc>
              <a:buFont typeface="Arial"/>
              <a:buChar char="⚬"/>
            </a:pPr>
            <a:r>
              <a:rPr lang="en-US" sz="464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Image Classification</a:t>
            </a:r>
          </a:p>
          <a:p>
            <a:pPr marL="1061686" lvl="2" indent="-353895" algn="ctr">
              <a:lnSpc>
                <a:spcPts val="6502"/>
              </a:lnSpc>
              <a:buFont typeface="Arial"/>
              <a:buChar char="⚬"/>
            </a:pPr>
            <a:r>
              <a:rPr lang="en-US" sz="464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Object Detection</a:t>
            </a:r>
          </a:p>
          <a:p>
            <a:pPr marL="1061686" lvl="2" indent="-353895" algn="ctr">
              <a:lnSpc>
                <a:spcPts val="6502"/>
              </a:lnSpc>
              <a:buFont typeface="Arial"/>
              <a:buChar char="⚬"/>
            </a:pPr>
            <a:r>
              <a:rPr lang="en-US" sz="464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Image Generation</a:t>
            </a:r>
          </a:p>
          <a:p>
            <a:pPr marL="1061686" lvl="2" indent="-353895" algn="ctr">
              <a:lnSpc>
                <a:spcPts val="6502"/>
              </a:lnSpc>
              <a:buFont typeface="Arial"/>
              <a:buChar char="⚬"/>
            </a:pPr>
            <a:r>
              <a:rPr lang="en-US" sz="464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Face Recognition</a:t>
            </a:r>
          </a:p>
          <a:p>
            <a:pPr marL="1061686" lvl="2" indent="-353895" algn="ctr">
              <a:lnSpc>
                <a:spcPts val="6502"/>
              </a:lnSpc>
              <a:buFont typeface="Arial"/>
              <a:buChar char="⚬"/>
            </a:pPr>
            <a:r>
              <a:rPr lang="en-US" sz="464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Pose Estimation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-1000458" y="465268"/>
            <a:ext cx="2837669" cy="2837669"/>
          </a:xfrm>
          <a:custGeom>
            <a:avLst/>
            <a:gdLst/>
            <a:ahLst/>
            <a:cxnLst/>
            <a:rect l="l" t="t" r="r" b="b"/>
            <a:pathLst>
              <a:path w="2837669" h="2837669">
                <a:moveTo>
                  <a:pt x="0" y="0"/>
                </a:moveTo>
                <a:lnTo>
                  <a:pt x="2837669" y="0"/>
                </a:lnTo>
                <a:lnTo>
                  <a:pt x="2837669" y="2837669"/>
                </a:lnTo>
                <a:lnTo>
                  <a:pt x="0" y="28376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2893688" y="5835739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3657219" y="0"/>
                </a:moveTo>
                <a:lnTo>
                  <a:pt x="0" y="0"/>
                </a:lnTo>
                <a:lnTo>
                  <a:pt x="0" y="3657219"/>
                </a:lnTo>
                <a:lnTo>
                  <a:pt x="3657219" y="3657219"/>
                </a:lnTo>
                <a:lnTo>
                  <a:pt x="365721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839029" y="3118371"/>
            <a:ext cx="6139929" cy="6139929"/>
            <a:chOff x="0" y="0"/>
            <a:chExt cx="8186572" cy="81865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86674" cy="8186547"/>
            </a:xfrm>
            <a:custGeom>
              <a:avLst/>
              <a:gdLst/>
              <a:ahLst/>
              <a:cxnLst/>
              <a:rect l="l" t="t" r="r" b="b"/>
              <a:pathLst>
                <a:path w="8186674" h="8186547">
                  <a:moveTo>
                    <a:pt x="4093337" y="0"/>
                  </a:moveTo>
                  <a:cubicBezTo>
                    <a:pt x="1832610" y="0"/>
                    <a:pt x="0" y="1832610"/>
                    <a:pt x="0" y="4093337"/>
                  </a:cubicBezTo>
                  <a:cubicBezTo>
                    <a:pt x="0" y="6354064"/>
                    <a:pt x="1832610" y="8186547"/>
                    <a:pt x="4093337" y="8186547"/>
                  </a:cubicBezTo>
                  <a:cubicBezTo>
                    <a:pt x="6354064" y="8186547"/>
                    <a:pt x="8186674" y="6353937"/>
                    <a:pt x="8186674" y="4093210"/>
                  </a:cubicBezTo>
                  <a:cubicBezTo>
                    <a:pt x="8186674" y="1832483"/>
                    <a:pt x="6353937" y="0"/>
                    <a:pt x="4093337" y="0"/>
                  </a:cubicBezTo>
                  <a:close/>
                </a:path>
              </a:pathLst>
            </a:custGeom>
            <a:blipFill>
              <a:blip r:embed="rId7"/>
              <a:stretch>
                <a:fillRect l="-5851" r="-584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593546" y="2754678"/>
            <a:ext cx="10128752" cy="134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25"/>
              </a:lnSpc>
            </a:pPr>
            <a:r>
              <a:rPr lang="en-US" sz="10585" dirty="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processing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247400" y="1442095"/>
            <a:ext cx="4679299" cy="4679299"/>
          </a:xfrm>
          <a:custGeom>
            <a:avLst/>
            <a:gdLst/>
            <a:ahLst/>
            <a:cxnLst/>
            <a:rect l="l" t="t" r="r" b="b"/>
            <a:pathLst>
              <a:path w="4679299" h="4679299">
                <a:moveTo>
                  <a:pt x="0" y="0"/>
                </a:moveTo>
                <a:lnTo>
                  <a:pt x="4679299" y="0"/>
                </a:lnTo>
                <a:lnTo>
                  <a:pt x="4679299" y="4679299"/>
                </a:lnTo>
                <a:lnTo>
                  <a:pt x="0" y="46792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055895" y="2846822"/>
            <a:ext cx="6949907" cy="6034859"/>
            <a:chOff x="0" y="0"/>
            <a:chExt cx="9266542" cy="8046479"/>
          </a:xfrm>
        </p:grpSpPr>
        <p:sp>
          <p:nvSpPr>
            <p:cNvPr id="9" name="Freeform 9"/>
            <p:cNvSpPr/>
            <p:nvPr/>
          </p:nvSpPr>
          <p:spPr>
            <a:xfrm>
              <a:off x="139700" y="139700"/>
              <a:ext cx="8970518" cy="7750405"/>
            </a:xfrm>
            <a:custGeom>
              <a:avLst/>
              <a:gdLst/>
              <a:ahLst/>
              <a:cxnLst/>
              <a:rect l="l" t="t" r="r" b="b"/>
              <a:pathLst>
                <a:path w="8970518" h="7750405">
                  <a:moveTo>
                    <a:pt x="412623" y="0"/>
                  </a:moveTo>
                  <a:cubicBezTo>
                    <a:pt x="185674" y="0"/>
                    <a:pt x="0" y="205740"/>
                    <a:pt x="0" y="457327"/>
                  </a:cubicBezTo>
                  <a:lnTo>
                    <a:pt x="0" y="5217033"/>
                  </a:lnTo>
                  <a:cubicBezTo>
                    <a:pt x="0" y="5468493"/>
                    <a:pt x="181356" y="5718048"/>
                    <a:pt x="403098" y="5771515"/>
                  </a:cubicBezTo>
                  <a:lnTo>
                    <a:pt x="8567420" y="7741412"/>
                  </a:lnTo>
                  <a:cubicBezTo>
                    <a:pt x="8789162" y="7790688"/>
                    <a:pt x="8970518" y="7632827"/>
                    <a:pt x="8970518" y="7381367"/>
                  </a:cubicBezTo>
                  <a:lnTo>
                    <a:pt x="8970518" y="457327"/>
                  </a:lnTo>
                  <a:cubicBezTo>
                    <a:pt x="8970518" y="205867"/>
                    <a:pt x="8784844" y="0"/>
                    <a:pt x="8557895" y="0"/>
                  </a:cubicBezTo>
                  <a:lnTo>
                    <a:pt x="412623" y="0"/>
                  </a:lnTo>
                  <a:close/>
                </a:path>
              </a:pathLst>
            </a:custGeom>
            <a:blipFill>
              <a:blip r:embed="rId7"/>
              <a:stretch>
                <a:fillRect l="-17127" t="-1802" r="-17312" b="-2017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flipH="1">
            <a:off x="-1074963" y="1203522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50" y="0"/>
                </a:moveTo>
                <a:lnTo>
                  <a:pt x="0" y="0"/>
                </a:lnTo>
                <a:lnTo>
                  <a:pt x="0" y="2380250"/>
                </a:lnTo>
                <a:lnTo>
                  <a:pt x="2380250" y="2380250"/>
                </a:lnTo>
                <a:lnTo>
                  <a:pt x="2380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66993" y="2808580"/>
            <a:ext cx="8261995" cy="233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46"/>
              </a:lnSpc>
            </a:pPr>
            <a:r>
              <a:rPr lang="en-US" sz="7894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Computer Vision</a:t>
            </a:r>
          </a:p>
          <a:p>
            <a:pPr algn="l">
              <a:lnSpc>
                <a:spcPts val="10486"/>
              </a:lnSpc>
            </a:pPr>
            <a:endParaRPr lang="en-US" sz="7894" b="1" dirty="0">
              <a:solidFill>
                <a:srgbClr val="FFFFFF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05277" y="4459624"/>
            <a:ext cx="8400574" cy="3539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0108" lvl="2" indent="-303369" algn="just">
              <a:lnSpc>
                <a:spcPts val="5574"/>
              </a:lnSpc>
              <a:buFont typeface="Arial"/>
              <a:buChar char="⚬"/>
            </a:pPr>
            <a:r>
              <a:rPr lang="en-US" sz="398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It is a technology that helps computers see and identify objects using cameras, images, and videos.</a:t>
            </a:r>
          </a:p>
          <a:p>
            <a:pPr marL="910108" lvl="2" indent="-303369" algn="just">
              <a:lnSpc>
                <a:spcPts val="5574"/>
              </a:lnSpc>
              <a:buFont typeface="Arial"/>
              <a:buChar char="⚬"/>
            </a:pPr>
            <a:r>
              <a:rPr lang="en-US" sz="3981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It allows computers to understand visual information like humans.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09760" y="2354990"/>
            <a:ext cx="13778179" cy="2190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4"/>
              </a:lnSpc>
            </a:pPr>
            <a:r>
              <a:rPr lang="en-US" sz="8341" b="1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AI on Computer Vision</a:t>
            </a:r>
          </a:p>
          <a:p>
            <a:pPr algn="l">
              <a:lnSpc>
                <a:spcPts val="8924"/>
              </a:lnSpc>
            </a:pPr>
            <a:endParaRPr lang="en-US" sz="8341" b="1">
              <a:solidFill>
                <a:srgbClr val="FFFFFF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33560" y="3948341"/>
            <a:ext cx="12265676" cy="4508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2107" lvl="2" indent="-277369" algn="just">
              <a:lnSpc>
                <a:spcPts val="5095"/>
              </a:lnSpc>
              <a:buFont typeface="Arial"/>
              <a:buChar char="⚬"/>
            </a:pPr>
            <a:r>
              <a:rPr lang="en-US" sz="364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AI in Computer Vision refers to the use of Artificial Intelligence, especially Machine Learning and Deep Learning, to enable computers to automatically understand, analyze, and make decisions from images and videos.</a:t>
            </a:r>
          </a:p>
          <a:p>
            <a:pPr marL="832107" lvl="2" indent="-277369" algn="just">
              <a:lnSpc>
                <a:spcPts val="5095"/>
              </a:lnSpc>
            </a:pPr>
            <a:endParaRPr lang="en-US" sz="3640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  <a:p>
            <a:pPr marL="832107" lvl="2" indent="-277369" algn="just">
              <a:lnSpc>
                <a:spcPts val="5095"/>
              </a:lnSpc>
              <a:buFont typeface="Arial"/>
              <a:buChar char="⚬"/>
            </a:pPr>
            <a:r>
              <a:rPr lang="en-US" sz="364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AI in Computer Vision = intelligent vision systems that can learn from images and improve over time .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3350983" y="1699079"/>
            <a:ext cx="5696569" cy="5696569"/>
          </a:xfrm>
          <a:custGeom>
            <a:avLst/>
            <a:gdLst/>
            <a:ahLst/>
            <a:cxnLst/>
            <a:rect l="l" t="t" r="r" b="b"/>
            <a:pathLst>
              <a:path w="5696569" h="5696569">
                <a:moveTo>
                  <a:pt x="5696569" y="0"/>
                </a:moveTo>
                <a:lnTo>
                  <a:pt x="0" y="0"/>
                </a:lnTo>
                <a:lnTo>
                  <a:pt x="0" y="5696569"/>
                </a:lnTo>
                <a:lnTo>
                  <a:pt x="5696569" y="5696569"/>
                </a:lnTo>
                <a:lnTo>
                  <a:pt x="5696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646690" y="1203522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50" y="0"/>
                </a:moveTo>
                <a:lnTo>
                  <a:pt x="0" y="0"/>
                </a:lnTo>
                <a:lnTo>
                  <a:pt x="0" y="2380250"/>
                </a:lnTo>
                <a:lnTo>
                  <a:pt x="2380250" y="2380250"/>
                </a:lnTo>
                <a:lnTo>
                  <a:pt x="2380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927144" y="1461221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49" y="0"/>
                </a:moveTo>
                <a:lnTo>
                  <a:pt x="0" y="0"/>
                </a:lnTo>
                <a:lnTo>
                  <a:pt x="0" y="2380250"/>
                </a:lnTo>
                <a:lnTo>
                  <a:pt x="2380249" y="2380250"/>
                </a:lnTo>
                <a:lnTo>
                  <a:pt x="238024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851106" y="5583403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0" y="0"/>
                </a:moveTo>
                <a:lnTo>
                  <a:pt x="2380250" y="0"/>
                </a:lnTo>
                <a:lnTo>
                  <a:pt x="2380250" y="2380249"/>
                </a:lnTo>
                <a:lnTo>
                  <a:pt x="0" y="23802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0456993" y="1076735"/>
            <a:ext cx="4929997" cy="5696788"/>
            <a:chOff x="0" y="0"/>
            <a:chExt cx="6573330" cy="75957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73393" cy="7595743"/>
            </a:xfrm>
            <a:custGeom>
              <a:avLst/>
              <a:gdLst/>
              <a:ahLst/>
              <a:cxnLst/>
              <a:rect l="l" t="t" r="r" b="b"/>
              <a:pathLst>
                <a:path w="6573393" h="7595743">
                  <a:moveTo>
                    <a:pt x="6145784" y="7595743"/>
                  </a:moveTo>
                  <a:lnTo>
                    <a:pt x="427609" y="7595743"/>
                  </a:lnTo>
                  <a:cubicBezTo>
                    <a:pt x="191516" y="7595743"/>
                    <a:pt x="0" y="7262749"/>
                    <a:pt x="0" y="6854444"/>
                  </a:cubicBezTo>
                  <a:lnTo>
                    <a:pt x="0" y="743585"/>
                  </a:lnTo>
                  <a:cubicBezTo>
                    <a:pt x="0" y="332994"/>
                    <a:pt x="191516" y="0"/>
                    <a:pt x="427609" y="0"/>
                  </a:cubicBezTo>
                  <a:lnTo>
                    <a:pt x="6145784" y="0"/>
                  </a:lnTo>
                  <a:cubicBezTo>
                    <a:pt x="6381877" y="0"/>
                    <a:pt x="6573393" y="332994"/>
                    <a:pt x="6573393" y="743585"/>
                  </a:cubicBezTo>
                  <a:lnTo>
                    <a:pt x="6573393" y="6854444"/>
                  </a:lnTo>
                  <a:cubicBezTo>
                    <a:pt x="6573393" y="7262749"/>
                    <a:pt x="6381877" y="7595743"/>
                    <a:pt x="6145784" y="7595743"/>
                  </a:cubicBezTo>
                  <a:close/>
                </a:path>
              </a:pathLst>
            </a:custGeom>
            <a:blipFill>
              <a:blip r:embed="rId7"/>
              <a:stretch>
                <a:fillRect l="-1161" r="-116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51918" y="7103059"/>
            <a:ext cx="16632907" cy="191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53"/>
              </a:lnSpc>
            </a:pPr>
            <a:r>
              <a:rPr lang="en-US" sz="7526" dirty="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How AI Works in Computer Vision</a:t>
            </a:r>
          </a:p>
          <a:p>
            <a:pPr algn="l">
              <a:lnSpc>
                <a:spcPts val="7625"/>
              </a:lnSpc>
            </a:pPr>
            <a:endParaRPr lang="en-US" sz="7526" dirty="0">
              <a:solidFill>
                <a:srgbClr val="FFFFFF"/>
              </a:solidFill>
              <a:latin typeface="Museo Moderno"/>
              <a:ea typeface="Museo Moderno"/>
              <a:cs typeface="Museo Moderno"/>
              <a:sym typeface="Museo Moderno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3096" y="1668770"/>
            <a:ext cx="8818655" cy="4952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3269" lvl="2" indent="-301090" algn="just">
              <a:lnSpc>
                <a:spcPts val="5531"/>
              </a:lnSpc>
              <a:buFont typeface="Arial"/>
              <a:buChar char="⚬"/>
            </a:pPr>
            <a:r>
              <a:rPr lang="en-US" sz="395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 Collect image or video data</a:t>
            </a:r>
          </a:p>
          <a:p>
            <a:pPr marL="903269" lvl="2" indent="-301090" algn="just">
              <a:lnSpc>
                <a:spcPts val="5531"/>
              </a:lnSpc>
              <a:buFont typeface="Arial"/>
              <a:buChar char="⚬"/>
            </a:pPr>
            <a:r>
              <a:rPr lang="en-US" sz="395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 Train AI models using datasets</a:t>
            </a:r>
          </a:p>
          <a:p>
            <a:pPr marL="903269" lvl="2" indent="-301090" algn="just">
              <a:lnSpc>
                <a:spcPts val="5531"/>
              </a:lnSpc>
              <a:buFont typeface="Arial"/>
              <a:buChar char="⚬"/>
            </a:pPr>
            <a:r>
              <a:rPr lang="en-US" sz="395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Use neural networks to learn pattern</a:t>
            </a:r>
          </a:p>
          <a:p>
            <a:pPr marL="903269" lvl="2" indent="-301090" algn="just">
              <a:lnSpc>
                <a:spcPts val="5531"/>
              </a:lnSpc>
              <a:buFont typeface="Arial"/>
              <a:buChar char="⚬"/>
            </a:pPr>
            <a:r>
              <a:rPr lang="en-US" sz="3950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 Detect and classify objects</a:t>
            </a:r>
          </a:p>
          <a:p>
            <a:pPr marL="929050" lvl="2" indent="-309683" algn="just">
              <a:lnSpc>
                <a:spcPts val="5688"/>
              </a:lnSpc>
              <a:buFont typeface="Arial"/>
              <a:buChar char="⚬"/>
            </a:pPr>
            <a:r>
              <a:rPr lang="en-US" sz="4064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Make decisions based on visual information</a:t>
            </a:r>
          </a:p>
          <a:p>
            <a:pPr marL="903217" lvl="2" indent="-301072" algn="just">
              <a:lnSpc>
                <a:spcPts val="5531"/>
              </a:lnSpc>
            </a:pPr>
            <a:endParaRPr lang="en-US" sz="4064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2182504" y="0"/>
            <a:ext cx="5696569" cy="5696569"/>
          </a:xfrm>
          <a:custGeom>
            <a:avLst/>
            <a:gdLst/>
            <a:ahLst/>
            <a:cxnLst/>
            <a:rect l="l" t="t" r="r" b="b"/>
            <a:pathLst>
              <a:path w="5696569" h="5696569">
                <a:moveTo>
                  <a:pt x="5696569" y="0"/>
                </a:moveTo>
                <a:lnTo>
                  <a:pt x="0" y="0"/>
                </a:lnTo>
                <a:lnTo>
                  <a:pt x="0" y="5696569"/>
                </a:lnTo>
                <a:lnTo>
                  <a:pt x="5696569" y="5696569"/>
                </a:lnTo>
                <a:lnTo>
                  <a:pt x="5696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1155859" y="5823956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50" y="0"/>
                </a:moveTo>
                <a:lnTo>
                  <a:pt x="0" y="0"/>
                </a:lnTo>
                <a:lnTo>
                  <a:pt x="0" y="2380250"/>
                </a:lnTo>
                <a:lnTo>
                  <a:pt x="2380250" y="2380250"/>
                </a:lnTo>
                <a:lnTo>
                  <a:pt x="2380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590951"/>
            <a:ext cx="14791830" cy="306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11"/>
              </a:lnSpc>
            </a:pPr>
            <a:r>
              <a:rPr lang="en-US" sz="6150" b="1" dirty="0" err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Opencv</a:t>
            </a:r>
            <a:r>
              <a:rPr lang="en-US" sz="615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(Open Source Computer Vision Library)</a:t>
            </a:r>
          </a:p>
          <a:p>
            <a:pPr algn="ctr">
              <a:lnSpc>
                <a:spcPts val="6323"/>
              </a:lnSpc>
            </a:pPr>
            <a:endParaRPr lang="en-US" sz="6150" b="1" dirty="0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3918814"/>
            <a:ext cx="14555495" cy="2907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OpenCV (Open Source Computer Vision Library) is a popular software library used for image processing and computer vision tasks.</a:t>
            </a:r>
          </a:p>
          <a:p>
            <a:pPr marL="920125" lvl="2" indent="-306708" algn="just">
              <a:lnSpc>
                <a:spcPts val="5634"/>
              </a:lnSpc>
            </a:pPr>
            <a:endParaRPr lang="en-US" sz="4025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452639" y="6288100"/>
            <a:ext cx="14555495" cy="4336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34"/>
              </a:lnSpc>
            </a:pPr>
            <a:r>
              <a:rPr lang="en-US" sz="4025" b="1">
                <a:solidFill>
                  <a:srgbClr val="FFFFFF"/>
                </a:solidFill>
                <a:latin typeface="Cyrillic Bodoni Bold"/>
                <a:ea typeface="Cyrillic Bodoni Bold"/>
                <a:cs typeface="Cyrillic Bodoni Bold"/>
                <a:sym typeface="Cyrillic Bodoni Bold"/>
              </a:rPr>
              <a:t> It helps computers to:</a:t>
            </a:r>
          </a:p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Read images and videos</a:t>
            </a:r>
          </a:p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Process them</a:t>
            </a:r>
          </a:p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Detect objects and faces</a:t>
            </a:r>
          </a:p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Build real-time vision applications</a:t>
            </a:r>
          </a:p>
          <a:p>
            <a:pPr marL="920125" lvl="2" indent="-306708" algn="just">
              <a:lnSpc>
                <a:spcPts val="5634"/>
              </a:lnSpc>
            </a:pPr>
            <a:endParaRPr lang="en-US" sz="4025">
              <a:solidFill>
                <a:srgbClr val="FFFFFF"/>
              </a:solidFill>
              <a:latin typeface="Cyrillic Bodoni"/>
              <a:ea typeface="Cyrillic Bodoni"/>
              <a:cs typeface="Cyrillic Bodoni"/>
              <a:sym typeface="Cyrillic Bodon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1650951" y="2719149"/>
            <a:ext cx="5696569" cy="5696569"/>
          </a:xfrm>
          <a:custGeom>
            <a:avLst/>
            <a:gdLst/>
            <a:ahLst/>
            <a:cxnLst/>
            <a:rect l="l" t="t" r="r" b="b"/>
            <a:pathLst>
              <a:path w="5696569" h="5696569">
                <a:moveTo>
                  <a:pt x="5696570" y="0"/>
                </a:moveTo>
                <a:lnTo>
                  <a:pt x="0" y="0"/>
                </a:lnTo>
                <a:lnTo>
                  <a:pt x="0" y="5696570"/>
                </a:lnTo>
                <a:lnTo>
                  <a:pt x="5696570" y="5696570"/>
                </a:lnTo>
                <a:lnTo>
                  <a:pt x="569657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1022156" y="1028700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50" y="0"/>
                </a:moveTo>
                <a:lnTo>
                  <a:pt x="0" y="0"/>
                </a:lnTo>
                <a:lnTo>
                  <a:pt x="0" y="2380250"/>
                </a:lnTo>
                <a:lnTo>
                  <a:pt x="2380250" y="2380250"/>
                </a:lnTo>
                <a:lnTo>
                  <a:pt x="2380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3213021" y="4686910"/>
            <a:ext cx="10186854" cy="5220957"/>
            <a:chOff x="0" y="0"/>
            <a:chExt cx="13582472" cy="69612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82396" cy="6961251"/>
            </a:xfrm>
            <a:custGeom>
              <a:avLst/>
              <a:gdLst/>
              <a:ahLst/>
              <a:cxnLst/>
              <a:rect l="l" t="t" r="r" b="b"/>
              <a:pathLst>
                <a:path w="13582396" h="6961251">
                  <a:moveTo>
                    <a:pt x="13280898" y="0"/>
                  </a:moveTo>
                  <a:lnTo>
                    <a:pt x="301498" y="0"/>
                  </a:lnTo>
                  <a:cubicBezTo>
                    <a:pt x="135763" y="0"/>
                    <a:pt x="0" y="130048"/>
                    <a:pt x="0" y="289306"/>
                  </a:cubicBezTo>
                  <a:lnTo>
                    <a:pt x="0" y="6671945"/>
                  </a:lnTo>
                  <a:cubicBezTo>
                    <a:pt x="0" y="6831202"/>
                    <a:pt x="135763" y="6961251"/>
                    <a:pt x="301498" y="6961251"/>
                  </a:cubicBezTo>
                  <a:lnTo>
                    <a:pt x="13280898" y="6961251"/>
                  </a:lnTo>
                  <a:cubicBezTo>
                    <a:pt x="13446633" y="6961251"/>
                    <a:pt x="13582396" y="6831202"/>
                    <a:pt x="13582396" y="6671945"/>
                  </a:cubicBezTo>
                  <a:lnTo>
                    <a:pt x="13582396" y="289306"/>
                  </a:lnTo>
                  <a:cubicBezTo>
                    <a:pt x="13582396" y="130048"/>
                    <a:pt x="13446633" y="0"/>
                    <a:pt x="13280898" y="0"/>
                  </a:cubicBezTo>
                  <a:close/>
                </a:path>
              </a:pathLst>
            </a:custGeom>
            <a:blipFill>
              <a:blip r:embed="rId7"/>
              <a:stretch>
                <a:fillRect t="-23404" b="-2340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65755" y="1333500"/>
            <a:ext cx="14381798" cy="335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19"/>
              </a:lnSpc>
            </a:pPr>
            <a:r>
              <a:rPr lang="en-US" sz="12729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Image detection </a:t>
            </a:r>
          </a:p>
          <a:p>
            <a:pPr algn="l">
              <a:lnSpc>
                <a:spcPts val="13619"/>
              </a:lnSpc>
            </a:pPr>
            <a:endParaRPr lang="en-US" sz="12729" b="1" dirty="0">
              <a:solidFill>
                <a:srgbClr val="FFFFFF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3457127"/>
            <a:ext cx="14555495" cy="764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Finding and identifying objects, faces or features within an image.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213021" y="4686910"/>
            <a:ext cx="10186854" cy="5220957"/>
            <a:chOff x="0" y="0"/>
            <a:chExt cx="13582472" cy="69612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82396" cy="6961251"/>
            </a:xfrm>
            <a:custGeom>
              <a:avLst/>
              <a:gdLst/>
              <a:ahLst/>
              <a:cxnLst/>
              <a:rect l="l" t="t" r="r" b="b"/>
              <a:pathLst>
                <a:path w="13582396" h="6961251">
                  <a:moveTo>
                    <a:pt x="13280898" y="0"/>
                  </a:moveTo>
                  <a:lnTo>
                    <a:pt x="301498" y="0"/>
                  </a:lnTo>
                  <a:cubicBezTo>
                    <a:pt x="135763" y="0"/>
                    <a:pt x="0" y="130048"/>
                    <a:pt x="0" y="289306"/>
                  </a:cubicBezTo>
                  <a:lnTo>
                    <a:pt x="0" y="6671945"/>
                  </a:lnTo>
                  <a:cubicBezTo>
                    <a:pt x="0" y="6831202"/>
                    <a:pt x="135763" y="6961251"/>
                    <a:pt x="301498" y="6961251"/>
                  </a:cubicBezTo>
                  <a:lnTo>
                    <a:pt x="13280898" y="6961251"/>
                  </a:lnTo>
                  <a:cubicBezTo>
                    <a:pt x="13446633" y="6961251"/>
                    <a:pt x="13582396" y="6831202"/>
                    <a:pt x="13582396" y="6671945"/>
                  </a:cubicBezTo>
                  <a:lnTo>
                    <a:pt x="13582396" y="289306"/>
                  </a:lnTo>
                  <a:cubicBezTo>
                    <a:pt x="13582396" y="130048"/>
                    <a:pt x="13446633" y="0"/>
                    <a:pt x="13280898" y="0"/>
                  </a:cubicBezTo>
                  <a:close/>
                </a:path>
              </a:pathLst>
            </a:custGeom>
            <a:blipFill>
              <a:blip r:embed="rId5"/>
              <a:stretch>
                <a:fillRect t="-17392" b="-1739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465755" y="1333500"/>
            <a:ext cx="14381798" cy="335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19"/>
              </a:lnSpc>
            </a:pPr>
            <a:r>
              <a:rPr lang="en-US" sz="12729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Face detection</a:t>
            </a:r>
          </a:p>
          <a:p>
            <a:pPr algn="l">
              <a:lnSpc>
                <a:spcPts val="13619"/>
              </a:lnSpc>
            </a:pPr>
            <a:endParaRPr lang="en-US" sz="12729" b="1" dirty="0">
              <a:solidFill>
                <a:srgbClr val="FFFFFF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950474"/>
            <a:ext cx="14555495" cy="1478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20125" lvl="2" indent="-306708" algn="just">
              <a:lnSpc>
                <a:spcPts val="5634"/>
              </a:lnSpc>
              <a:buFont typeface="Arial"/>
              <a:buChar char="⚬"/>
            </a:pPr>
            <a:r>
              <a:rPr lang="en-US" sz="40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·Face detection is a vision technique that identifies and locates faces in an image or video.</a:t>
            </a:r>
          </a:p>
        </p:txBody>
      </p:sp>
      <p:sp>
        <p:nvSpPr>
          <p:cNvPr id="11" name="Freeform 11"/>
          <p:cNvSpPr/>
          <p:nvPr/>
        </p:nvSpPr>
        <p:spPr>
          <a:xfrm>
            <a:off x="-525132" y="0"/>
            <a:ext cx="3107665" cy="3107665"/>
          </a:xfrm>
          <a:custGeom>
            <a:avLst/>
            <a:gdLst/>
            <a:ahLst/>
            <a:cxnLst/>
            <a:rect l="l" t="t" r="r" b="b"/>
            <a:pathLst>
              <a:path w="3107665" h="3107665">
                <a:moveTo>
                  <a:pt x="0" y="0"/>
                </a:moveTo>
                <a:lnTo>
                  <a:pt x="3107664" y="0"/>
                </a:lnTo>
                <a:lnTo>
                  <a:pt x="3107664" y="3107665"/>
                </a:lnTo>
                <a:lnTo>
                  <a:pt x="0" y="310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59390" y="4686910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213021" y="5066043"/>
            <a:ext cx="10186854" cy="5220957"/>
            <a:chOff x="0" y="0"/>
            <a:chExt cx="13582472" cy="696127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82396" cy="6961251"/>
            </a:xfrm>
            <a:custGeom>
              <a:avLst/>
              <a:gdLst/>
              <a:ahLst/>
              <a:cxnLst/>
              <a:rect l="l" t="t" r="r" b="b"/>
              <a:pathLst>
                <a:path w="13582396" h="6961251">
                  <a:moveTo>
                    <a:pt x="13280898" y="0"/>
                  </a:moveTo>
                  <a:lnTo>
                    <a:pt x="301498" y="0"/>
                  </a:lnTo>
                  <a:cubicBezTo>
                    <a:pt x="135763" y="0"/>
                    <a:pt x="0" y="130048"/>
                    <a:pt x="0" y="289306"/>
                  </a:cubicBezTo>
                  <a:lnTo>
                    <a:pt x="0" y="6671945"/>
                  </a:lnTo>
                  <a:cubicBezTo>
                    <a:pt x="0" y="6831202"/>
                    <a:pt x="135763" y="6961251"/>
                    <a:pt x="301498" y="6961251"/>
                  </a:cubicBezTo>
                  <a:lnTo>
                    <a:pt x="13280898" y="6961251"/>
                  </a:lnTo>
                  <a:cubicBezTo>
                    <a:pt x="13446633" y="6961251"/>
                    <a:pt x="13582396" y="6831202"/>
                    <a:pt x="13582396" y="6671945"/>
                  </a:cubicBezTo>
                  <a:lnTo>
                    <a:pt x="13582396" y="289306"/>
                  </a:lnTo>
                  <a:cubicBezTo>
                    <a:pt x="13582396" y="130048"/>
                    <a:pt x="13446633" y="0"/>
                    <a:pt x="13280898" y="0"/>
                  </a:cubicBezTo>
                  <a:close/>
                </a:path>
              </a:pathLst>
            </a:custGeom>
            <a:blipFill>
              <a:blip r:embed="rId5"/>
              <a:stretch>
                <a:fillRect t="-17660" b="-1766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465755" y="1333500"/>
            <a:ext cx="14381798" cy="335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619"/>
              </a:lnSpc>
            </a:pPr>
            <a:r>
              <a:rPr lang="en-US" sz="12729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Hand Detection</a:t>
            </a:r>
          </a:p>
          <a:p>
            <a:pPr algn="l">
              <a:lnSpc>
                <a:spcPts val="13619"/>
              </a:lnSpc>
            </a:pPr>
            <a:endParaRPr lang="en-US" sz="12729" b="1" dirty="0">
              <a:solidFill>
                <a:srgbClr val="FFFFFF"/>
              </a:solidFill>
              <a:latin typeface="Museo Moderno Bold"/>
              <a:ea typeface="Museo Moderno Bold"/>
              <a:cs typeface="Museo Moderno Bold"/>
              <a:sym typeface="Museo Moderno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2988574"/>
            <a:ext cx="16806767" cy="1827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2967" lvl="2" indent="-260989" algn="just">
              <a:lnSpc>
                <a:spcPts val="4795"/>
              </a:lnSpc>
              <a:buFont typeface="Arial"/>
              <a:buChar char="⚬"/>
            </a:pPr>
            <a:r>
              <a:rPr lang="en-US" sz="34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Hand detection identifies and locates and locates a hand image or video, while hand recognition analyzes the detected hand to interpret its identify, gesture, or sign(such as counting fingers or recognizing sign languages). </a:t>
            </a:r>
          </a:p>
        </p:txBody>
      </p:sp>
      <p:sp>
        <p:nvSpPr>
          <p:cNvPr id="11" name="Freeform 11"/>
          <p:cNvSpPr/>
          <p:nvPr/>
        </p:nvSpPr>
        <p:spPr>
          <a:xfrm>
            <a:off x="-525132" y="0"/>
            <a:ext cx="3107665" cy="3107665"/>
          </a:xfrm>
          <a:custGeom>
            <a:avLst/>
            <a:gdLst/>
            <a:ahLst/>
            <a:cxnLst/>
            <a:rect l="l" t="t" r="r" b="b"/>
            <a:pathLst>
              <a:path w="3107665" h="3107665">
                <a:moveTo>
                  <a:pt x="0" y="0"/>
                </a:moveTo>
                <a:lnTo>
                  <a:pt x="3107664" y="0"/>
                </a:lnTo>
                <a:lnTo>
                  <a:pt x="3107664" y="3107665"/>
                </a:lnTo>
                <a:lnTo>
                  <a:pt x="0" y="310766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59390" y="4686910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65755" y="1257300"/>
            <a:ext cx="17401546" cy="1181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27"/>
              </a:lnSpc>
            </a:pPr>
            <a:r>
              <a:rPr lang="en-US" sz="9277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Hand volume up and down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673106"/>
            <a:ext cx="16230600" cy="2084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4406" lvl="2" indent="-291469" algn="just">
              <a:lnSpc>
                <a:spcPts val="5355"/>
              </a:lnSpc>
              <a:buFont typeface="Arial"/>
              <a:buChar char="⚬"/>
            </a:pPr>
            <a:r>
              <a:rPr lang="en-US" sz="38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·Hand volume up and down uses hand gesture recoganation to increases or decrease system volume based on specific finger movements dedected by a camera.</a:t>
            </a:r>
          </a:p>
        </p:txBody>
      </p:sp>
      <p:sp>
        <p:nvSpPr>
          <p:cNvPr id="9" name="Freeform 9"/>
          <p:cNvSpPr/>
          <p:nvPr/>
        </p:nvSpPr>
        <p:spPr>
          <a:xfrm>
            <a:off x="-525132" y="0"/>
            <a:ext cx="3107665" cy="3107665"/>
          </a:xfrm>
          <a:custGeom>
            <a:avLst/>
            <a:gdLst/>
            <a:ahLst/>
            <a:cxnLst/>
            <a:rect l="l" t="t" r="r" b="b"/>
            <a:pathLst>
              <a:path w="3107665" h="3107665">
                <a:moveTo>
                  <a:pt x="0" y="0"/>
                </a:moveTo>
                <a:lnTo>
                  <a:pt x="3107664" y="0"/>
                </a:lnTo>
                <a:lnTo>
                  <a:pt x="3107664" y="3107665"/>
                </a:lnTo>
                <a:lnTo>
                  <a:pt x="0" y="3107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59390" y="4686910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686887" y="5143500"/>
            <a:ext cx="7955728" cy="4654296"/>
            <a:chOff x="0" y="0"/>
            <a:chExt cx="10607637" cy="62057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607548" cy="6205728"/>
            </a:xfrm>
            <a:custGeom>
              <a:avLst/>
              <a:gdLst/>
              <a:ahLst/>
              <a:cxnLst/>
              <a:rect l="l" t="t" r="r" b="b"/>
              <a:pathLst>
                <a:path w="10607548" h="6205728">
                  <a:moveTo>
                    <a:pt x="10372090" y="0"/>
                  </a:moveTo>
                  <a:lnTo>
                    <a:pt x="235458" y="0"/>
                  </a:lnTo>
                  <a:cubicBezTo>
                    <a:pt x="106045" y="0"/>
                    <a:pt x="0" y="115951"/>
                    <a:pt x="0" y="257937"/>
                  </a:cubicBezTo>
                  <a:lnTo>
                    <a:pt x="0" y="5947791"/>
                  </a:lnTo>
                  <a:cubicBezTo>
                    <a:pt x="0" y="6089777"/>
                    <a:pt x="106045" y="6205728"/>
                    <a:pt x="235458" y="6205728"/>
                  </a:cubicBezTo>
                  <a:lnTo>
                    <a:pt x="10372090" y="6205728"/>
                  </a:lnTo>
                  <a:cubicBezTo>
                    <a:pt x="10501503" y="6205728"/>
                    <a:pt x="10607548" y="6089777"/>
                    <a:pt x="10607548" y="5947791"/>
                  </a:cubicBezTo>
                  <a:lnTo>
                    <a:pt x="10607548" y="257937"/>
                  </a:lnTo>
                  <a:cubicBezTo>
                    <a:pt x="10607675" y="115951"/>
                    <a:pt x="10501503" y="0"/>
                    <a:pt x="10372090" y="0"/>
                  </a:cubicBezTo>
                  <a:close/>
                </a:path>
              </a:pathLst>
            </a:custGeom>
            <a:blipFill>
              <a:blip r:embed="rId7"/>
              <a:stretch>
                <a:fillRect l="-1974" r="-1975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43901" y="4967516"/>
            <a:ext cx="7646803" cy="5319484"/>
            <a:chOff x="0" y="0"/>
            <a:chExt cx="10195738" cy="709264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195687" cy="7092697"/>
            </a:xfrm>
            <a:custGeom>
              <a:avLst/>
              <a:gdLst/>
              <a:ahLst/>
              <a:cxnLst/>
              <a:rect l="l" t="t" r="r" b="b"/>
              <a:pathLst>
                <a:path w="10195687" h="7092697">
                  <a:moveTo>
                    <a:pt x="9969373" y="0"/>
                  </a:moveTo>
                  <a:lnTo>
                    <a:pt x="226314" y="0"/>
                  </a:lnTo>
                  <a:cubicBezTo>
                    <a:pt x="101981" y="0"/>
                    <a:pt x="0" y="132461"/>
                    <a:pt x="0" y="294767"/>
                  </a:cubicBezTo>
                  <a:lnTo>
                    <a:pt x="0" y="6797929"/>
                  </a:lnTo>
                  <a:cubicBezTo>
                    <a:pt x="0" y="6960108"/>
                    <a:pt x="101981" y="7092697"/>
                    <a:pt x="226314" y="7092697"/>
                  </a:cubicBezTo>
                  <a:lnTo>
                    <a:pt x="9969373" y="7092697"/>
                  </a:lnTo>
                  <a:cubicBezTo>
                    <a:pt x="10093706" y="7092697"/>
                    <a:pt x="10195687" y="6960236"/>
                    <a:pt x="10195687" y="6797929"/>
                  </a:cubicBezTo>
                  <a:lnTo>
                    <a:pt x="10195687" y="294767"/>
                  </a:lnTo>
                  <a:cubicBezTo>
                    <a:pt x="10195687" y="132461"/>
                    <a:pt x="10093833" y="0"/>
                    <a:pt x="9969373" y="0"/>
                  </a:cubicBezTo>
                  <a:close/>
                </a:path>
              </a:pathLst>
            </a:custGeom>
            <a:blipFill>
              <a:blip r:embed="rId8"/>
              <a:stretch>
                <a:fillRect l="-8056" r="-8057"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2591431" y="2780852"/>
            <a:ext cx="5696569" cy="5696569"/>
          </a:xfrm>
          <a:custGeom>
            <a:avLst/>
            <a:gdLst/>
            <a:ahLst/>
            <a:cxnLst/>
            <a:rect l="l" t="t" r="r" b="b"/>
            <a:pathLst>
              <a:path w="5696569" h="5696569">
                <a:moveTo>
                  <a:pt x="5696569" y="0"/>
                </a:moveTo>
                <a:lnTo>
                  <a:pt x="0" y="0"/>
                </a:lnTo>
                <a:lnTo>
                  <a:pt x="0" y="5696569"/>
                </a:lnTo>
                <a:lnTo>
                  <a:pt x="5696569" y="5696569"/>
                </a:lnTo>
                <a:lnTo>
                  <a:pt x="5696569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1022156" y="1028700"/>
            <a:ext cx="2380250" cy="2380250"/>
          </a:xfrm>
          <a:custGeom>
            <a:avLst/>
            <a:gdLst/>
            <a:ahLst/>
            <a:cxnLst/>
            <a:rect l="l" t="t" r="r" b="b"/>
            <a:pathLst>
              <a:path w="2380250" h="2380250">
                <a:moveTo>
                  <a:pt x="2380250" y="0"/>
                </a:moveTo>
                <a:lnTo>
                  <a:pt x="0" y="0"/>
                </a:lnTo>
                <a:lnTo>
                  <a:pt x="0" y="2380250"/>
                </a:lnTo>
                <a:lnTo>
                  <a:pt x="2380250" y="2380250"/>
                </a:lnTo>
                <a:lnTo>
                  <a:pt x="238025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397341" y="4686910"/>
            <a:ext cx="10186854" cy="5220957"/>
            <a:chOff x="0" y="0"/>
            <a:chExt cx="13582472" cy="69612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582396" cy="6961251"/>
            </a:xfrm>
            <a:custGeom>
              <a:avLst/>
              <a:gdLst/>
              <a:ahLst/>
              <a:cxnLst/>
              <a:rect l="l" t="t" r="r" b="b"/>
              <a:pathLst>
                <a:path w="13582396" h="6961251">
                  <a:moveTo>
                    <a:pt x="13280898" y="0"/>
                  </a:moveTo>
                  <a:lnTo>
                    <a:pt x="301498" y="0"/>
                  </a:lnTo>
                  <a:cubicBezTo>
                    <a:pt x="135763" y="0"/>
                    <a:pt x="0" y="130048"/>
                    <a:pt x="0" y="289306"/>
                  </a:cubicBezTo>
                  <a:lnTo>
                    <a:pt x="0" y="6671945"/>
                  </a:lnTo>
                  <a:cubicBezTo>
                    <a:pt x="0" y="6831202"/>
                    <a:pt x="135763" y="6961251"/>
                    <a:pt x="301498" y="6961251"/>
                  </a:cubicBezTo>
                  <a:lnTo>
                    <a:pt x="13280898" y="6961251"/>
                  </a:lnTo>
                  <a:cubicBezTo>
                    <a:pt x="13446633" y="6961251"/>
                    <a:pt x="13582396" y="6831202"/>
                    <a:pt x="13582396" y="6671945"/>
                  </a:cubicBezTo>
                  <a:lnTo>
                    <a:pt x="13582396" y="289306"/>
                  </a:lnTo>
                  <a:cubicBezTo>
                    <a:pt x="13582396" y="130048"/>
                    <a:pt x="13446633" y="0"/>
                    <a:pt x="13280898" y="0"/>
                  </a:cubicBezTo>
                  <a:close/>
                </a:path>
              </a:pathLst>
            </a:custGeom>
            <a:blipFill>
              <a:blip r:embed="rId7"/>
              <a:stretch>
                <a:fillRect t="-12976" b="-12976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65755" y="769591"/>
            <a:ext cx="15881766" cy="2011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33"/>
              </a:lnSpc>
            </a:pPr>
            <a:r>
              <a:rPr lang="en-US" sz="7694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Human detection or full body detection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866368"/>
            <a:ext cx="14555495" cy="1820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108" lvl="2" indent="-253369" algn="just">
              <a:lnSpc>
                <a:spcPts val="4655"/>
              </a:lnSpc>
              <a:buFont typeface="Arial"/>
              <a:buChar char="⚬"/>
            </a:pPr>
            <a:r>
              <a:rPr lang="en-US" sz="3325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·Full body detection is a computer vision technique that identies and locates the entire human body in an image or video, typecally by drawing a bounding box or ditrcting body keypointes.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37192" y="2689527"/>
            <a:ext cx="9199609" cy="1675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885"/>
              </a:lnSpc>
            </a:pPr>
            <a:r>
              <a:rPr lang="en-US" sz="12042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37192" y="5067300"/>
            <a:ext cx="14922198" cy="448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19402" lvl="1" indent="-459701" algn="just">
              <a:lnSpc>
                <a:spcPts val="5961"/>
              </a:lnSpc>
              <a:buFont typeface="Arial"/>
              <a:buChar char="•"/>
            </a:pPr>
            <a:r>
              <a:rPr lang="en-US" sz="425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image processing and computer vision play a vital role in enabling machines to see, interpret, and understand the visual world. </a:t>
            </a:r>
          </a:p>
          <a:p>
            <a:pPr marL="919402" lvl="1" indent="-459701" algn="just">
              <a:lnSpc>
                <a:spcPts val="5961"/>
              </a:lnSpc>
              <a:buFont typeface="Arial"/>
              <a:buChar char="•"/>
            </a:pPr>
            <a:r>
              <a:rPr lang="en-US" sz="4258">
                <a:solidFill>
                  <a:srgbClr val="FFFFFF"/>
                </a:solidFill>
                <a:latin typeface="Cyrillic Bodoni"/>
                <a:ea typeface="Cyrillic Bodoni"/>
                <a:cs typeface="Cyrillic Bodoni"/>
                <a:sym typeface="Cyrillic Bodoni"/>
              </a:rPr>
              <a:t> They are no longer just research concepts but essential tools in everyday life, making machines smarter and more capable of interacting with humans and the environment.</a:t>
            </a:r>
          </a:p>
        </p:txBody>
      </p:sp>
      <p:sp>
        <p:nvSpPr>
          <p:cNvPr id="9" name="Freeform 9"/>
          <p:cNvSpPr/>
          <p:nvPr/>
        </p:nvSpPr>
        <p:spPr>
          <a:xfrm>
            <a:off x="-1028700" y="1699079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19" y="0"/>
                </a:lnTo>
                <a:lnTo>
                  <a:pt x="3657219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459390" y="4173112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0632">
                <a:alpha val="100000"/>
              </a:srgbClr>
            </a:gs>
            <a:gs pos="100000">
              <a:srgbClr val="000C4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0695" y="-864718"/>
            <a:ext cx="8997305" cy="12016426"/>
            <a:chOff x="0" y="0"/>
            <a:chExt cx="11996407" cy="160219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4261" y="-864718"/>
            <a:ext cx="8997305" cy="12016426"/>
            <a:chOff x="0" y="0"/>
            <a:chExt cx="11996407" cy="160219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996420" cy="16021938"/>
            </a:xfrm>
            <a:custGeom>
              <a:avLst/>
              <a:gdLst/>
              <a:ahLst/>
              <a:cxnLst/>
              <a:rect l="l" t="t" r="r" b="b"/>
              <a:pathLst>
                <a:path w="11996420" h="16021938">
                  <a:moveTo>
                    <a:pt x="0" y="0"/>
                  </a:moveTo>
                  <a:lnTo>
                    <a:pt x="11996420" y="0"/>
                  </a:lnTo>
                  <a:lnTo>
                    <a:pt x="11996420" y="16021938"/>
                  </a:lnTo>
                  <a:lnTo>
                    <a:pt x="0" y="16021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6000"/>
              </a:blip>
              <a:stretch>
                <a:fillRect t="-38" b="-37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5400000">
            <a:off x="7061197" y="-939803"/>
            <a:ext cx="4165597" cy="18288000"/>
          </a:xfrm>
          <a:custGeom>
            <a:avLst/>
            <a:gdLst/>
            <a:ahLst/>
            <a:cxnLst/>
            <a:rect l="l" t="t" r="r" b="b"/>
            <a:pathLst>
              <a:path w="4165597" h="18288000">
                <a:moveTo>
                  <a:pt x="0" y="0"/>
                </a:moveTo>
                <a:lnTo>
                  <a:pt x="4165597" y="0"/>
                </a:lnTo>
                <a:lnTo>
                  <a:pt x="4165597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 l="-76" r="-7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500105" y="2410863"/>
            <a:ext cx="9062923" cy="312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83"/>
              </a:lnSpc>
            </a:pPr>
            <a:r>
              <a:rPr lang="en-US" sz="16488" b="1" dirty="0">
                <a:solidFill>
                  <a:srgbClr val="FFFFFF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Thank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00826" y="4392587"/>
            <a:ext cx="5461483" cy="285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2"/>
              </a:lnSpc>
            </a:pPr>
            <a:r>
              <a:rPr lang="en-US" sz="14987" dirty="0">
                <a:solidFill>
                  <a:srgbClr val="FFFFFF"/>
                </a:solidFill>
                <a:latin typeface="Museo Moderno"/>
                <a:ea typeface="Museo Moderno"/>
                <a:cs typeface="Museo Moderno"/>
                <a:sym typeface="Museo Moderno"/>
              </a:rPr>
              <a:t>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84590" y="8823960"/>
            <a:ext cx="1406261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45686" y="8823960"/>
            <a:ext cx="1406261" cy="43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</a:p>
        </p:txBody>
      </p:sp>
      <p:sp>
        <p:nvSpPr>
          <p:cNvPr id="11" name="Freeform 11"/>
          <p:cNvSpPr/>
          <p:nvPr/>
        </p:nvSpPr>
        <p:spPr>
          <a:xfrm>
            <a:off x="-1028700" y="1699079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19" y="0"/>
                </a:lnTo>
                <a:lnTo>
                  <a:pt x="3657219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59390" y="4173112"/>
            <a:ext cx="3657219" cy="3657219"/>
          </a:xfrm>
          <a:custGeom>
            <a:avLst/>
            <a:gdLst/>
            <a:ahLst/>
            <a:cxnLst/>
            <a:rect l="l" t="t" r="r" b="b"/>
            <a:pathLst>
              <a:path w="3657219" h="3657219">
                <a:moveTo>
                  <a:pt x="0" y="0"/>
                </a:moveTo>
                <a:lnTo>
                  <a:pt x="3657220" y="0"/>
                </a:lnTo>
                <a:lnTo>
                  <a:pt x="3657220" y="3657219"/>
                </a:lnTo>
                <a:lnTo>
                  <a:pt x="0" y="36572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576</Words>
  <Application>Microsoft Office PowerPoint</Application>
  <PresentationFormat>Custom</PresentationFormat>
  <Paragraphs>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Cyrillic Bodoni</vt:lpstr>
      <vt:lpstr>Montserrat</vt:lpstr>
      <vt:lpstr>Museo Moderno</vt:lpstr>
      <vt:lpstr>Montserrat Bold</vt:lpstr>
      <vt:lpstr>Calibri</vt:lpstr>
      <vt:lpstr>Canva Sans Bold</vt:lpstr>
      <vt:lpstr>Arial</vt:lpstr>
      <vt:lpstr>Bauer Bodoni Condensed Bold</vt:lpstr>
      <vt:lpstr>Cyrillic Bodoni Bold</vt:lpstr>
      <vt:lpstr>Canva Sans</vt:lpstr>
      <vt:lpstr>Museo Moderno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</dc:title>
  <cp:lastModifiedBy>Kali Raj</cp:lastModifiedBy>
  <cp:revision>3</cp:revision>
  <dcterms:created xsi:type="dcterms:W3CDTF">2006-08-16T00:00:00Z</dcterms:created>
  <dcterms:modified xsi:type="dcterms:W3CDTF">2026-02-26T02:45:17Z</dcterms:modified>
  <dc:identifier>DAHCYjZXvpQ</dc:identifier>
</cp:coreProperties>
</file>